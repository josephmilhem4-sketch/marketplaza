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772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932">
                <a:solidFill>
                  <a:srgbClr val="FFFFFF"/>
                </a:solidFill>
                <a:latin typeface="Georgia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5024" y="786384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6231D"/>
                </a:solidFill>
                <a:latin typeface="Arial"/>
              </a:rPr>
              <a:t>plazamarket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4241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26231D"/>
                </a:solidFill>
                <a:latin typeface="Georgia"/>
              </a:rPr>
              <a:t>La inteligencia de ubicación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0385C"/>
                </a:solidFill>
                <a:latin typeface="Georgia"/>
              </a:rPr>
              <a:t>para el comercio en Panamá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7A7168"/>
                </a:solidFill>
                <a:latin typeface="Arial"/>
              </a:rPr>
              <a:t>No mostramos locales vacíos. Le decimos a cada negocio en qué plaza le conviene abrir
y a cada plaza qué negocio le falta para completar su mezcla.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5349240"/>
            <a:ext cx="10543032" cy="0"/>
          </a:xfrm>
          <a:prstGeom prst="line">
            <a:avLst/>
          </a:prstGeom>
          <a:ln w="12700">
            <a:solidFill>
              <a:srgbClr val="E4DC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5532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6231D"/>
                </a:solidFill>
                <a:latin typeface="Arial"/>
              </a:rPr>
              <a:t>[Nombre del fundador]  ·  josephmilhem4@gmail.com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7168"/>
                </a:solidFill>
                <a:latin typeface="Arial"/>
              </a:rPr>
              <a:t>Presentación para inversionistas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385C"/>
                </a:solidFill>
                <a:latin typeface="Arial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6231D"/>
                </a:solidFill>
                <a:latin typeface="Georgia"/>
              </a:rPr>
              <a:t>Elegir dónde abrir un negocio
es una apuesta a ciegas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3310128" cy="3246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3310128" cy="82296"/>
          </a:xfrm>
          <a:prstGeom prst="rect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660903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385C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990087"/>
            <a:ext cx="272491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6231D"/>
                </a:solidFill>
                <a:latin typeface="Georgia"/>
              </a:rPr>
              <a:t>Información aislada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749039"/>
            <a:ext cx="272491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A7168"/>
                </a:solidFill>
                <a:latin typeface="Arial"/>
              </a:rPr>
              <a:t>Los portales muestran el local vacío, pero no dicen nada del negocio: quién más opera en esa plaza, si hay competencia directa o si hay algo que atraiga clientes.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331720"/>
            <a:ext cx="3310128" cy="3246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9976" y="2331720"/>
            <a:ext cx="3310128" cy="82296"/>
          </a:xfrm>
          <a:prstGeom prst="rect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2660903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385C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990087"/>
            <a:ext cx="272491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6231D"/>
                </a:solidFill>
                <a:latin typeface="Georgia"/>
              </a:rPr>
              <a:t>Decisión por intuición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3749039"/>
            <a:ext cx="272491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A7168"/>
                </a:solidFill>
                <a:latin typeface="Arial"/>
              </a:rPr>
              <a:t>Emprendedores y hasta cadenas eligen ubicación por corazonada, recomendación de un conocido o el primer letrero de “SE ALQUILA” que ven.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36992" y="2331720"/>
            <a:ext cx="3310128" cy="3246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36992" y="2331720"/>
            <a:ext cx="3310128" cy="82296"/>
          </a:xfrm>
          <a:prstGeom prst="rect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660903"/>
            <a:ext cx="27249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385C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990087"/>
            <a:ext cx="272491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6231D"/>
                </a:solidFill>
                <a:latin typeface="Georgia"/>
              </a:rPr>
              <a:t>Plazas con vacantes que no llenan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749039"/>
            <a:ext cx="272491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7A7168"/>
                </a:solidFill>
                <a:latin typeface="Arial"/>
              </a:rPr>
              <a:t>Los administradores de plaza no siempre saben qué tipo de negocio le falta a su mezcla para atraer más tráfico — publican el espacio, no la estrategia.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A7168"/>
                </a:solidFill>
                <a:latin typeface="Arial"/>
              </a:rPr>
              <a:t>plazamarket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71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385C"/>
                </a:solidFill>
                <a:latin typeface="Arial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6231D"/>
                </a:solidFill>
                <a:latin typeface="Georgia"/>
              </a:rPr>
              <a:t>Plaza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9875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A7168"/>
                </a:solidFill>
                <a:latin typeface="Arial"/>
              </a:rPr>
              <a:t>Un marketplace de locales comerciales que, antes de mostrarte un espacio, te dice si esa plaza te conviene.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10543032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82296" cy="1874519"/>
          </a:xfrm>
          <a:prstGeom prst="rect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87168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385C"/>
                </a:solidFill>
                <a:latin typeface="Arial"/>
              </a:rPr>
              <a:t>EL EJEMPLO QUE LO EXPLICA TODO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52928"/>
            <a:ext cx="9784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6231D"/>
                </a:solidFill>
                <a:latin typeface="Georgia"/>
              </a:rPr>
              <a:t>“Quiero abrir una farmacia”</a:t>
            </a:r>
          </a:p>
          <a:p>
            <a:pPr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 i="0">
                <a:solidFill>
                  <a:srgbClr val="7A7168"/>
                </a:solidFill>
                <a:latin typeface="Arial"/>
              </a:rPr>
              <a:t>→ le mostramos qué plazas tienen supermercado (que ya jala clientes) y todavía no tienen farmacia — y le ocultamos las que ya tienen un competidor directo.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6231D"/>
                </a:solidFill>
                <a:latin typeface="Arial"/>
              </a:rPr>
              <a:t>No vendemos solo espacios comerciales: entregamos la información estratégica para decidir bien.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A7168"/>
                </a:solidFill>
                <a:latin typeface="Arial"/>
              </a:rPr>
              <a:t>plazamarket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71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385C"/>
                </a:solidFill>
                <a:latin typeface="Arial"/>
              </a:rPr>
              <a:t>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6231D"/>
                </a:solidFill>
                <a:latin typeface="Georgia"/>
              </a:rPr>
              <a:t>Cuatro piezas, una sola base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A7168"/>
                </a:solidFill>
                <a:latin typeface="Arial"/>
              </a:rPr>
              <a:t>Toda la información se registra una vez; cada pantalla la usa a su manera.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2487168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8992" y="2331720"/>
            <a:ext cx="384048" cy="384048"/>
          </a:xfrm>
          <a:prstGeom prst="ellipse">
            <a:avLst/>
          </a:prstGeom>
          <a:solidFill>
            <a:srgbClr val="FB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E0385C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843784"/>
            <a:ext cx="19751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6231D"/>
                </a:solidFill>
                <a:latin typeface="Georgia"/>
              </a:rPr>
              <a:t>Mapa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191256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0385C"/>
                </a:solidFill>
                <a:latin typeface="Arial"/>
              </a:rPr>
              <a:t>EXPLORA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593591"/>
            <a:ext cx="1975104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A7168"/>
                </a:solidFill>
                <a:latin typeface="Arial"/>
              </a:rPr>
              <a:t>Las plazas de la ciudad por zona, con su carácter (residencial, oficinas), poder adquisitivo y negocios ya instalados. El catálogo que da contexto y confianza.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11296" y="2057400"/>
            <a:ext cx="2487168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67328" y="2331720"/>
            <a:ext cx="384048" cy="384048"/>
          </a:xfrm>
          <a:prstGeom prst="ellipse">
            <a:avLst/>
          </a:prstGeom>
          <a:solidFill>
            <a:srgbClr val="FB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E0385C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843784"/>
            <a:ext cx="19751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6231D"/>
                </a:solidFill>
                <a:latin typeface="Georgia"/>
              </a:rPr>
              <a:t>Evaluación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3191256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0385C"/>
                </a:solidFill>
                <a:latin typeface="Arial"/>
              </a:rPr>
              <a:t>TE RECOMIENDA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3593591"/>
            <a:ext cx="1975104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A7168"/>
                </a:solidFill>
                <a:latin typeface="Arial"/>
              </a:rPr>
              <a:t>4 preguntas (rubro, presupuesto, tamaño, zona) y el sistema cruza anclas, competencia y radio de influencia para devolver un ranking con puntaje y razones.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2057400"/>
            <a:ext cx="2487168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55664" y="2331720"/>
            <a:ext cx="384048" cy="384048"/>
          </a:xfrm>
          <a:prstGeom prst="ellipse">
            <a:avLst/>
          </a:prstGeom>
          <a:solidFill>
            <a:srgbClr val="FB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E0385C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843784"/>
            <a:ext cx="19751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6231D"/>
                </a:solidFill>
                <a:latin typeface="Georgia"/>
              </a:rPr>
              <a:t>Oportunidades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191256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0385C"/>
                </a:solidFill>
                <a:latin typeface="Arial"/>
              </a:rPr>
              <a:t>ANALIZA POR RUBRO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593591"/>
            <a:ext cx="1975104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A7168"/>
                </a:solidFill>
                <a:latin typeface="Arial"/>
              </a:rPr>
              <a:t>Elige un tipo de negocio y ve, para las 25 plazas, dónde hay tráfico asegurado y todavía no hay competidor directo.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2057400"/>
            <a:ext cx="2487168" cy="37490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0" y="2331720"/>
            <a:ext cx="384048" cy="384048"/>
          </a:xfrm>
          <a:prstGeom prst="ellipse">
            <a:avLst/>
          </a:prstGeom>
          <a:solidFill>
            <a:srgbClr val="FB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500">
                <a:solidFill>
                  <a:srgbClr val="E0385C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843784"/>
            <a:ext cx="197510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6231D"/>
                </a:solidFill>
                <a:latin typeface="Georgia"/>
              </a:rPr>
              <a:t>Panel de plaza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191256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0385C"/>
                </a:solidFill>
                <a:latin typeface="Arial"/>
              </a:rPr>
              <a:t>CONVIERTE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593591"/>
            <a:ext cx="1975104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A7168"/>
                </a:solidFill>
                <a:latin typeface="Arial"/>
              </a:rPr>
              <a:t>El administrador ve sus solicitudes recibidas y qué categoría de negocio le falta a su mezcla, con la demanda real que la búsqueda de otros ya reveló.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A7168"/>
                </a:solidFill>
                <a:latin typeface="Arial"/>
              </a:rPr>
              <a:t>plazamarket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716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385C"/>
                </a:solidFill>
                <a:latin typeface="Arial"/>
              </a:rPr>
              <a:t>PRODUCTO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31D"/>
                </a:solidFill>
                <a:latin typeface="Georgia"/>
              </a:rPr>
              <a:t>Ya funciona: prototipo navegable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7A7168"/>
                </a:solidFill>
                <a:latin typeface="Arial"/>
              </a:rPr>
              <a:t>plaza-marketplace.vercel.app  ·  25 plazas reales de Panamá mapeadas con datos ilustrativos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43032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74519"/>
            <a:ext cx="10543032" cy="384048"/>
          </a:xfrm>
          <a:prstGeom prst="rect">
            <a:avLst/>
          </a:prstGeom>
          <a:solidFill>
            <a:srgbClr val="F1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011679"/>
            <a:ext cx="118872" cy="118872"/>
          </a:xfrm>
          <a:prstGeom prst="ellipse">
            <a:avLst/>
          </a:prstGeom>
          <a:solidFill>
            <a:srgbClr val="E3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25296" y="2011679"/>
            <a:ext cx="118872" cy="118872"/>
          </a:xfrm>
          <a:prstGeom prst="ellipse">
            <a:avLst/>
          </a:prstGeom>
          <a:solidFill>
            <a:srgbClr val="E6C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44752" y="2011679"/>
            <a:ext cx="118872" cy="118872"/>
          </a:xfrm>
          <a:prstGeom prst="ellipse">
            <a:avLst/>
          </a:prstGeom>
          <a:solidFill>
            <a:srgbClr val="9EC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20240" y="1956815"/>
            <a:ext cx="365760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850">
                <a:solidFill>
                  <a:srgbClr val="7A7168"/>
                </a:solidFill>
                <a:latin typeface="Arial"/>
              </a:rPr>
              <a:t>plaza-marketplace.vercel.app/#/evaluacion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5973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6231D"/>
                </a:solidFill>
                <a:latin typeface="Georgia"/>
              </a:rPr>
              <a:t>Tu evaluación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825496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A7168"/>
                </a:solidFill>
                <a:latin typeface="Arial"/>
              </a:rPr>
              <a:t>3 son buenas opciones para tu farmacia.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191256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F1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>
                <a:solidFill>
                  <a:srgbClr val="26231D"/>
                </a:solidFill>
                <a:latin typeface="Arial"/>
              </a:rPr>
              <a:t>Farmacia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191256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F1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>
                <a:solidFill>
                  <a:srgbClr val="26231D"/>
                </a:solidFill>
                <a:latin typeface="Arial"/>
              </a:rPr>
              <a:t>$1,000–$2,000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3191256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F1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>
                <a:solidFill>
                  <a:srgbClr val="26231D"/>
                </a:solidFill>
                <a:latin typeface="Arial"/>
              </a:rPr>
              <a:t>Mediano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3191256"/>
            <a:ext cx="1298448" cy="274320"/>
          </a:xfrm>
          <a:prstGeom prst="roundRect">
            <a:avLst>
              <a:gd name="adj" fmla="val 50000"/>
            </a:avLst>
          </a:prstGeom>
          <a:solidFill>
            <a:srgbClr val="F1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>
                <a:solidFill>
                  <a:srgbClr val="26231D"/>
                </a:solidFill>
                <a:latin typeface="Arial"/>
              </a:rPr>
              <a:t>Costa del Este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630168"/>
            <a:ext cx="990295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71600" y="3483863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MEJOR OPCIÓN PARA 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3886200"/>
            <a:ext cx="1874519" cy="1188720"/>
          </a:xfrm>
          <a:prstGeom prst="roundRect">
            <a:avLst>
              <a:gd name="adj" fmla="val 8000"/>
            </a:avLst>
          </a:prstGeom>
          <a:solidFill>
            <a:srgbClr val="F1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0" y="3904487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6231D"/>
                </a:solidFill>
                <a:latin typeface="Georgia"/>
              </a:rPr>
              <a:t>Plaza Aventura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251959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7168"/>
                </a:solidFill>
                <a:latin typeface="Arial"/>
              </a:rPr>
              <a:t>El Dorado · Ciudad de Panamá · Comunitaria</a:t>
            </a:r>
          </a:p>
        </p:txBody>
      </p:sp>
      <p:sp>
        <p:nvSpPr>
          <p:cNvPr id="23" name="Oval 22"/>
          <p:cNvSpPr/>
          <p:nvPr/>
        </p:nvSpPr>
        <p:spPr>
          <a:xfrm>
            <a:off x="3474720" y="4572000"/>
            <a:ext cx="100584" cy="100584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454456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6231D"/>
                </a:solidFill>
                <a:latin typeface="Arial"/>
              </a:rPr>
              <a:t>Tiene supermercado — genera tráfico de clientes</a:t>
            </a:r>
          </a:p>
        </p:txBody>
      </p:sp>
      <p:sp>
        <p:nvSpPr>
          <p:cNvPr id="25" name="Oval 24"/>
          <p:cNvSpPr/>
          <p:nvPr/>
        </p:nvSpPr>
        <p:spPr>
          <a:xfrm>
            <a:off x="3474720" y="4818888"/>
            <a:ext cx="100584" cy="100584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4791456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6231D"/>
                </a:solidFill>
                <a:latin typeface="Arial"/>
              </a:rPr>
              <a:t>Sin farmacia — categoría libre en la plaza</a:t>
            </a:r>
          </a:p>
        </p:txBody>
      </p:sp>
      <p:sp>
        <p:nvSpPr>
          <p:cNvPr id="27" name="Oval 26"/>
          <p:cNvSpPr/>
          <p:nvPr/>
        </p:nvSpPr>
        <p:spPr>
          <a:xfrm>
            <a:off x="3474720" y="5065776"/>
            <a:ext cx="100584" cy="100584"/>
          </a:xfrm>
          <a:prstGeom prst="ellipse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5038344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6231D"/>
                </a:solidFill>
                <a:latin typeface="Arial"/>
              </a:rPr>
              <a:t>Alto poder adquisitivo en la zona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8632" y="3904487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6231D"/>
                </a:solidFill>
                <a:latin typeface="Georgia"/>
              </a:rPr>
              <a:t>91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28632" y="42885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7168"/>
                </a:solidFill>
                <a:latin typeface="Arial"/>
              </a:rPr>
              <a:t>/100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A7168"/>
                </a:solidFill>
                <a:latin typeface="Arial"/>
              </a:rPr>
              <a:t>plazamarket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716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385C"/>
                </a:solidFill>
                <a:latin typeface="Arial"/>
              </a:rPr>
              <a:t>DIFERENCIADOR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6231D"/>
                </a:solidFill>
                <a:latin typeface="Georgia"/>
              </a:rPr>
              <a:t>El dato que nadie más tiene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7A7168"/>
                </a:solidFill>
                <a:latin typeface="Arial"/>
              </a:rPr>
              <a:t>Cada plaza se analiza en 8 dimensiones — cruzadas contra el rubro de cada negocio.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248716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64008" cy="1207008"/>
          </a:xfrm>
          <a:prstGeom prst="rect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276856"/>
            <a:ext cx="21214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31D"/>
                </a:solidFill>
                <a:latin typeface="Arial"/>
              </a:rPr>
              <a:t>Anclas de tráfico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606040"/>
            <a:ext cx="212140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7168"/>
                </a:solidFill>
                <a:latin typeface="Arial"/>
              </a:rPr>
              <a:t>¿Hay un súper, banco o gimnasio que le atraiga clientes a tu rubro?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1296" y="2148840"/>
            <a:ext cx="248716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11296" y="2148840"/>
            <a:ext cx="64008" cy="1207008"/>
          </a:xfrm>
          <a:prstGeom prst="rect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276856"/>
            <a:ext cx="21214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31D"/>
                </a:solidFill>
                <a:latin typeface="Arial"/>
              </a:rPr>
              <a:t>Competencia interna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2606040"/>
            <a:ext cx="212140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7168"/>
                </a:solidFill>
                <a:latin typeface="Arial"/>
              </a:rPr>
              <a:t>¿Ya opera un negocio igual al tuyo dentro de la misma plaza?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2148840"/>
            <a:ext cx="248716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2148840"/>
            <a:ext cx="64008" cy="1207008"/>
          </a:xfrm>
          <a:prstGeom prst="rect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276856"/>
            <a:ext cx="21214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31D"/>
                </a:solidFill>
                <a:latin typeface="Arial"/>
              </a:rPr>
              <a:t>Radio de influencia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06040"/>
            <a:ext cx="212140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7168"/>
                </a:solidFill>
                <a:latin typeface="Arial"/>
              </a:rPr>
              <a:t>Competencia y anclas en las zonas vecinas, no solo dentro de la plaza.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87968" y="2148840"/>
            <a:ext cx="248716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87968" y="2148840"/>
            <a:ext cx="64008" cy="1207008"/>
          </a:xfrm>
          <a:prstGeom prst="rect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6" y="2276856"/>
            <a:ext cx="21214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31D"/>
                </a:solidFill>
                <a:latin typeface="Arial"/>
              </a:rPr>
              <a:t>Carácter del área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606040"/>
            <a:ext cx="212140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7168"/>
                </a:solidFill>
                <a:latin typeface="Arial"/>
              </a:rPr>
              <a:t>¿Residencial, de oficinas o mixta? Cada rubro vive de un público distinto.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557016"/>
            <a:ext cx="248716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557016"/>
            <a:ext cx="64008" cy="1207008"/>
          </a:xfrm>
          <a:prstGeom prst="rect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3685032"/>
            <a:ext cx="21214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31D"/>
                </a:solidFill>
                <a:latin typeface="Arial"/>
              </a:rPr>
              <a:t>Poder adquisitivo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014216"/>
            <a:ext cx="212140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7168"/>
                </a:solidFill>
                <a:latin typeface="Arial"/>
              </a:rPr>
              <a:t>Nivel de ingreso de la zona donde está la plaza.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11296" y="3557016"/>
            <a:ext cx="248716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11296" y="3557016"/>
            <a:ext cx="64008" cy="1207008"/>
          </a:xfrm>
          <a:prstGeom prst="rect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12464" y="3685032"/>
            <a:ext cx="21214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31D"/>
                </a:solidFill>
                <a:latin typeface="Arial"/>
              </a:rPr>
              <a:t>Crecimiento proyectado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12464" y="4014216"/>
            <a:ext cx="212140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7168"/>
                </a:solidFill>
                <a:latin typeface="Arial"/>
              </a:rPr>
              <a:t>Zonas en expansión vs. zonas ya consolidadas.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557016"/>
            <a:ext cx="248716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3557016"/>
            <a:ext cx="64008" cy="1207008"/>
          </a:xfrm>
          <a:prstGeom prst="rect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685032"/>
            <a:ext cx="21214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31D"/>
                </a:solidFill>
                <a:latin typeface="Arial"/>
              </a:rPr>
              <a:t>Visibilidad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014216"/>
            <a:ext cx="212140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7168"/>
                </a:solidFill>
                <a:latin typeface="Arial"/>
              </a:rPr>
              <a:t>Qué tan visible es la plaza desde la calle.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3557016"/>
            <a:ext cx="248716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3557016"/>
            <a:ext cx="64008" cy="1207008"/>
          </a:xfrm>
          <a:prstGeom prst="rect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3685032"/>
            <a:ext cx="21214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6231D"/>
                </a:solidFill>
                <a:latin typeface="Arial"/>
              </a:rPr>
              <a:t>Vacancia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89136" y="4014216"/>
            <a:ext cx="2121408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A7168"/>
                </a:solidFill>
                <a:latin typeface="Arial"/>
              </a:rPr>
              <a:t>Cuántos locales están vacíos — señal de salud del centro comercial.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800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26231D"/>
                </a:solidFill>
                <a:latin typeface="Arial"/>
              </a:rPr>
              <a:t>Construir y mantener esta base es trabajo de campo constante — es lento de copiar y es nuestra barrera de entrada.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A7168"/>
                </a:solidFill>
                <a:latin typeface="Arial"/>
              </a:rPr>
              <a:t>plazamarket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716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385C"/>
                </a:solidFill>
                <a:latin typeface="Arial"/>
              </a:rPr>
              <a:t>MODELO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31D"/>
                </a:solidFill>
                <a:latin typeface="Georgia"/>
              </a:rPr>
              <a:t>Dos formas de cobrar, una regla de oro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A7168"/>
                </a:solidFill>
                <a:latin typeface="Arial"/>
              </a:rPr>
              <a:t>Cobramos por el dato y el análisis — nunca por el simple contacto, que siempre se puede evitar.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513892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15568" y="226771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1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50" b="1">
                <a:solidFill>
                  <a:srgbClr val="7A7168"/>
                </a:solidFill>
                <a:latin typeface="Arial"/>
              </a:rPr>
              <a:t>OPCIÓN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633472"/>
            <a:ext cx="45537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6231D"/>
                </a:solidFill>
                <a:latin typeface="Georgia"/>
              </a:rPr>
              <a:t>Cobrar a las plazas</a:t>
            </a:r>
          </a:p>
        </p:txBody>
      </p:sp>
      <p:sp>
        <p:nvSpPr>
          <p:cNvPr id="9" name="Oval 8"/>
          <p:cNvSpPr/>
          <p:nvPr/>
        </p:nvSpPr>
        <p:spPr>
          <a:xfrm>
            <a:off x="1133856" y="3310128"/>
            <a:ext cx="64008" cy="64008"/>
          </a:xfrm>
          <a:prstGeom prst="ellipse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246120"/>
            <a:ext cx="431596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31D"/>
                </a:solidFill>
                <a:latin typeface="Arial"/>
              </a:rPr>
              <a:t>Suscripción mensual por estar publicada, recibir leads y usar el panel de inteligencia</a:t>
            </a:r>
          </a:p>
        </p:txBody>
      </p:sp>
      <p:sp>
        <p:nvSpPr>
          <p:cNvPr id="11" name="Oval 10"/>
          <p:cNvSpPr/>
          <p:nvPr/>
        </p:nvSpPr>
        <p:spPr>
          <a:xfrm>
            <a:off x="1133856" y="3968496"/>
            <a:ext cx="64008" cy="64008"/>
          </a:xfrm>
          <a:prstGeom prst="ellipse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904488"/>
            <a:ext cx="431596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31D"/>
                </a:solidFill>
                <a:latin typeface="Arial"/>
              </a:rPr>
              <a:t>O comisión de corretaje al cierre (≈ 1 mes de renta), como un broker tradicional</a:t>
            </a:r>
          </a:p>
        </p:txBody>
      </p:sp>
      <p:sp>
        <p:nvSpPr>
          <p:cNvPr id="13" name="Oval 12"/>
          <p:cNvSpPr/>
          <p:nvPr/>
        </p:nvSpPr>
        <p:spPr>
          <a:xfrm>
            <a:off x="1133856" y="4626864"/>
            <a:ext cx="64008" cy="64008"/>
          </a:xfrm>
          <a:prstGeom prst="ellipse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562856"/>
            <a:ext cx="431596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31D"/>
                </a:solidFill>
                <a:latin typeface="Arial"/>
              </a:rPr>
              <a:t>Ingreso predecible; el reto es evitar que el trato se cierre por fuera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7064" y="2011680"/>
            <a:ext cx="5138928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19672" y="226771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F1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50" b="1">
                <a:solidFill>
                  <a:srgbClr val="7A7168"/>
                </a:solidFill>
                <a:latin typeface="Arial"/>
              </a:rPr>
              <a:t>OPCIÓN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633472"/>
            <a:ext cx="455371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6231D"/>
                </a:solidFill>
                <a:latin typeface="Georgia"/>
              </a:rPr>
              <a:t>Cobrar a quien busca local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3310128"/>
            <a:ext cx="64008" cy="64008"/>
          </a:xfrm>
          <a:prstGeom prst="ellipse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9984" y="3246120"/>
            <a:ext cx="431596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31D"/>
                </a:solidFill>
                <a:latin typeface="Arial"/>
              </a:rPr>
              <a:t>Evaluación básica gratuita — genera tráfico y confianza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3968496"/>
            <a:ext cx="64008" cy="64008"/>
          </a:xfrm>
          <a:prstGeom prst="ellipse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9984" y="3904488"/>
            <a:ext cx="431596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31D"/>
                </a:solidFill>
                <a:latin typeface="Arial"/>
              </a:rPr>
              <a:t>Informe completo de pago: ranking total, comparativa y benchmarks de renta por zona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4626864"/>
            <a:ext cx="64008" cy="64008"/>
          </a:xfrm>
          <a:prstGeom prst="ellipse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4" y="4562856"/>
            <a:ext cx="4315968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231D"/>
                </a:solidFill>
                <a:latin typeface="Arial"/>
              </a:rPr>
              <a:t>Suscripción premium para franquicias y cadenas en expansión constante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A7168"/>
                </a:solidFill>
                <a:latin typeface="Arial"/>
              </a:rPr>
              <a:t>plazamarket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716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385C"/>
                </a:solidFill>
                <a:latin typeface="Arial"/>
              </a:rPr>
              <a:t>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231D"/>
                </a:solidFill>
                <a:latin typeface="Georgia"/>
              </a:rPr>
              <a:t>Un mercado concentrado, expandible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3101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67128"/>
            <a:ext cx="276148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0385C"/>
                </a:solidFill>
                <a:latin typeface="Georgia"/>
              </a:rPr>
              <a:t>300–500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62072"/>
            <a:ext cx="276148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A7168"/>
                </a:solidFill>
                <a:latin typeface="Arial"/>
              </a:rPr>
              <a:t>plazas comerciales relevantes en Panamá — se pueden mapear todas en semanas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965960"/>
            <a:ext cx="33101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167128"/>
            <a:ext cx="276148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0385C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4296" y="2862072"/>
            <a:ext cx="276148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A7168"/>
                </a:solidFill>
                <a:latin typeface="Arial"/>
              </a:rPr>
              <a:t>clientes recurrentes naturales: franquicias en expansión y las propias plazas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965960"/>
            <a:ext cx="33101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2167128"/>
            <a:ext cx="276148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E0385C"/>
                </a:solidFill>
                <a:latin typeface="Georgia"/>
              </a:rPr>
              <a:t>LatAm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862072"/>
            <a:ext cx="2761488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A7168"/>
                </a:solidFill>
                <a:latin typeface="Arial"/>
              </a:rPr>
              <a:t>el mismo modelo aplica a otros países donde tampoco existe esta herramienta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6231D"/>
                </a:solidFill>
                <a:latin typeface="Georgia"/>
              </a:rPr>
              <a:t>Por qué ahora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498848"/>
            <a:ext cx="73152" cy="73152"/>
          </a:xfrm>
          <a:prstGeom prst="ellipse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43484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6231D"/>
                </a:solidFill>
                <a:latin typeface="Arial"/>
              </a:rPr>
              <a:t>Los portales inmobiliarios muestran el local; ninguno cruza el tenant mix contra el rubro del que busca.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029200"/>
            <a:ext cx="73152" cy="73152"/>
          </a:xfrm>
          <a:prstGeom prst="ellipse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4965192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6231D"/>
                </a:solidFill>
                <a:latin typeface="Arial"/>
              </a:rPr>
              <a:t>Google Maps ya deja ver qué hay alrededor, pero no lo convierte en una recomendación — ese es el trabajo que hacemos.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559552"/>
            <a:ext cx="73152" cy="73152"/>
          </a:xfrm>
          <a:prstGeom prst="ellipse">
            <a:avLst/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5495544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6231D"/>
                </a:solidFill>
                <a:latin typeface="Arial"/>
              </a:rPr>
              <a:t>El costo de mapear y mantener el dato es alto, y es justamente eso lo que nos vuelve difíciles de copiar rápido.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A7168"/>
                </a:solidFill>
                <a:latin typeface="Arial"/>
              </a:rPr>
              <a:t>plazamarket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716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385C"/>
                </a:solidFill>
                <a:latin typeface="Arial"/>
              </a:rPr>
              <a:t>HONESTIDAD ANTE 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6231D"/>
                </a:solidFill>
                <a:latin typeface="Georgia"/>
              </a:rPr>
              <a:t>Lo que ya estamos poniendo a prueba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3310128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203704"/>
            <a:ext cx="27980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31D"/>
                </a:solidFill>
                <a:latin typeface="Georgia"/>
              </a:rPr>
              <a:t>Desintermediación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651760"/>
            <a:ext cx="279806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7168"/>
                </a:solidFill>
                <a:latin typeface="Arial"/>
              </a:rPr>
              <a:t>El trato se puede cerrar fuera de la plataforma.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78992" y="3520439"/>
            <a:ext cx="2798064" cy="0"/>
          </a:xfrm>
          <a:prstGeom prst="line">
            <a:avLst/>
          </a:prstGeom>
          <a:ln w="12700">
            <a:solidFill>
              <a:srgbClr val="E4DC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078992" y="37033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B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880" b="1">
                <a:solidFill>
                  <a:srgbClr val="E0385C"/>
                </a:solidFill>
                <a:latin typeface="Arial"/>
              </a:rPr>
              <a:t>CÓMO LO VALIDAMOS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087368"/>
            <a:ext cx="2798064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31D"/>
                </a:solidFill>
                <a:latin typeface="Arial"/>
              </a:rPr>
              <a:t>Validando modelo de suscripción (pago recurrente) en vez de depender solo de comisión por cierre.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965960"/>
            <a:ext cx="3310128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2203704"/>
            <a:ext cx="27980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31D"/>
                </a:solidFill>
                <a:latin typeface="Georgia"/>
              </a:rPr>
              <a:t>Mantener el dato fresco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651760"/>
            <a:ext cx="279806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7168"/>
                </a:solidFill>
                <a:latin typeface="Arial"/>
              </a:rPr>
              <a:t>Es el costo operativo más alto y el corazón del producto.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36008" y="3520439"/>
            <a:ext cx="2798064" cy="0"/>
          </a:xfrm>
          <a:prstGeom prst="line">
            <a:avLst/>
          </a:prstGeom>
          <a:ln w="12700">
            <a:solidFill>
              <a:srgbClr val="E4DC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636008" y="37033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B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880" b="1">
                <a:solidFill>
                  <a:srgbClr val="E0385C"/>
                </a:solidFill>
                <a:latin typeface="Arial"/>
              </a:rPr>
              <a:t>CÓMO LO VALIDAMOS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4087368"/>
            <a:ext cx="2798064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31D"/>
                </a:solidFill>
                <a:latin typeface="Arial"/>
              </a:rPr>
              <a:t>Piloto: mantener 20 plazas actualizadas un mes para medir el costo real por plaza.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36992" y="1965960"/>
            <a:ext cx="3310128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3" y="2203704"/>
            <a:ext cx="279806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31D"/>
                </a:solidFill>
                <a:latin typeface="Georgia"/>
              </a:rPr>
              <a:t>Adopción de plazas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3" y="2651760"/>
            <a:ext cx="279806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7A7168"/>
                </a:solidFill>
                <a:latin typeface="Arial"/>
              </a:rPr>
              <a:t>Muchas plazas hoy operan por WhatsApp y corredor de confianza.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93023" y="3520439"/>
            <a:ext cx="2798065" cy="0"/>
          </a:xfrm>
          <a:prstGeom prst="line">
            <a:avLst/>
          </a:prstGeom>
          <a:ln w="12700">
            <a:solidFill>
              <a:srgbClr val="E4DC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93023" y="37033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B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880" b="1">
                <a:solidFill>
                  <a:srgbClr val="E0385C"/>
                </a:solidFill>
                <a:latin typeface="Arial"/>
              </a:rPr>
              <a:t>CÓMO LO VALIDAMOS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3" y="4087368"/>
            <a:ext cx="2798064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231D"/>
                </a:solidFill>
                <a:latin typeface="Arial"/>
              </a:rPr>
              <a:t>10 entrevistas con administradores mostrando el panel “Mi plaza” antes de construir más.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A7168"/>
                </a:solidFill>
                <a:latin typeface="Arial"/>
              </a:rPr>
              <a:t>plazamarket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716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385C"/>
                </a:solidFill>
                <a:latin typeface="Arial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6231D"/>
                </a:solidFill>
                <a:latin typeface="Georgia"/>
              </a:rPr>
              <a:t>De prototipo a producto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2487168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0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42416" y="2276856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HECHO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" y="2715768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0385C"/>
                </a:solidFill>
                <a:latin typeface="Arial"/>
              </a:rPr>
              <a:t>FASE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990088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6231D"/>
                </a:solidFill>
                <a:latin typeface="Georgia"/>
              </a:rPr>
              <a:t>Prototipo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3474720"/>
            <a:ext cx="2048256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7A7168"/>
                </a:solidFill>
                <a:latin typeface="Arial"/>
              </a:rPr>
              <a:t>Producto navegable con 25 plazas de Panamá, motor de evaluación y panel de administrador.</a:t>
            </a:r>
          </a:p>
        </p:txBody>
      </p:sp>
      <p:sp>
        <p:nvSpPr>
          <p:cNvPr id="10" name="Chevron 9"/>
          <p:cNvSpPr/>
          <p:nvPr/>
        </p:nvSpPr>
        <p:spPr>
          <a:xfrm>
            <a:off x="3337560" y="3749039"/>
            <a:ext cx="146304" cy="182880"/>
          </a:xfrm>
          <a:prstGeom prst="chevron">
            <a:avLst/>
          </a:prstGeom>
          <a:solidFill>
            <a:srgbClr val="E4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11296" y="2057400"/>
            <a:ext cx="2487168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0752" y="2276856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1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>
                <a:solidFill>
                  <a:srgbClr val="7A7168"/>
                </a:solidFill>
                <a:latin typeface="Arial"/>
              </a:rPr>
              <a:t>EN CURSO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715768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0385C"/>
                </a:solidFill>
                <a:latin typeface="Arial"/>
              </a:rPr>
              <a:t>FASE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990088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6231D"/>
                </a:solidFill>
                <a:latin typeface="Georgia"/>
              </a:rPr>
              <a:t>Validación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474720"/>
            <a:ext cx="2048256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7A7168"/>
                </a:solidFill>
                <a:latin typeface="Arial"/>
              </a:rPr>
              <a:t>Entrevistas con administradores de plaza y prueba con 30–50 emprendedores reales.</a:t>
            </a:r>
          </a:p>
        </p:txBody>
      </p:sp>
      <p:sp>
        <p:nvSpPr>
          <p:cNvPr id="16" name="Chevron 15"/>
          <p:cNvSpPr/>
          <p:nvPr/>
        </p:nvSpPr>
        <p:spPr>
          <a:xfrm>
            <a:off x="6025896" y="3749039"/>
            <a:ext cx="146304" cy="182880"/>
          </a:xfrm>
          <a:prstGeom prst="chevron">
            <a:avLst/>
          </a:prstGeom>
          <a:solidFill>
            <a:srgbClr val="E4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9632" y="2057400"/>
            <a:ext cx="2487168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19088" y="2276856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1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>
                <a:solidFill>
                  <a:srgbClr val="7A7168"/>
                </a:solidFill>
                <a:latin typeface="Arial"/>
              </a:rPr>
              <a:t>PRÓXIMO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715768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0385C"/>
                </a:solidFill>
                <a:latin typeface="Arial"/>
              </a:rPr>
              <a:t>FASE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990088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6231D"/>
                </a:solidFill>
                <a:latin typeface="Georgia"/>
              </a:rPr>
              <a:t>Producto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474720"/>
            <a:ext cx="2048256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7A7168"/>
                </a:solidFill>
                <a:latin typeface="Arial"/>
              </a:rPr>
              <a:t>Cuentas, base de datos, mapa geolocalizado real y solicitudes que sí llegan a la plaza.</a:t>
            </a:r>
          </a:p>
        </p:txBody>
      </p:sp>
      <p:sp>
        <p:nvSpPr>
          <p:cNvPr id="22" name="Chevron 21"/>
          <p:cNvSpPr/>
          <p:nvPr/>
        </p:nvSpPr>
        <p:spPr>
          <a:xfrm>
            <a:off x="8714232" y="3749039"/>
            <a:ext cx="146304" cy="182880"/>
          </a:xfrm>
          <a:prstGeom prst="chevron">
            <a:avLst/>
          </a:prstGeom>
          <a:solidFill>
            <a:srgbClr val="E4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87968" y="2057400"/>
            <a:ext cx="2487168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07424" y="2276856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1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900" b="1">
                <a:solidFill>
                  <a:srgbClr val="7A7168"/>
                </a:solidFill>
                <a:latin typeface="Arial"/>
              </a:rPr>
              <a:t>PRÓXIMO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2715768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0385C"/>
                </a:solidFill>
                <a:latin typeface="Arial"/>
              </a:rPr>
              <a:t>FASE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7424" y="2990088"/>
            <a:ext cx="204825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26231D"/>
                </a:solidFill>
                <a:latin typeface="Georgia"/>
              </a:rPr>
              <a:t>Expansión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3474720"/>
            <a:ext cx="2048256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7A7168"/>
                </a:solidFill>
                <a:latin typeface="Arial"/>
              </a:rPr>
              <a:t>Más ciudades de Panamá y, validado el modelo, otros países de la región.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A7168"/>
                </a:solidFill>
                <a:latin typeface="Arial"/>
              </a:rPr>
              <a:t>plazamarket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716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385C"/>
                </a:solidFill>
                <a:latin typeface="Arial"/>
              </a:rPr>
              <a:t>LA INVERSIÓN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6231D"/>
                </a:solidFill>
                <a:latin typeface="Georgia"/>
              </a:rPr>
              <a:t>Lo que buscamos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43032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3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93392"/>
            <a:ext cx="99669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6231D"/>
                </a:solidFill>
                <a:latin typeface="Georgia"/>
              </a:rPr>
              <a:t>Capital semilla: [monto a definir]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7A7168"/>
                </a:solidFill>
                <a:latin typeface="Arial"/>
              </a:rPr>
              <a:t>Para financiar 12–18 meses de validación y construcción del producto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231D"/>
                </a:solidFill>
                <a:latin typeface="Georgia"/>
              </a:rPr>
              <a:t>Uso de fondos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703320"/>
            <a:ext cx="33101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388620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6231D"/>
                </a:solidFill>
                <a:latin typeface="Arial"/>
              </a:rPr>
              <a:t>Mapeo y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4233672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7A7168"/>
                </a:solidFill>
                <a:latin typeface="Arial"/>
              </a:rPr>
              <a:t>Levantar y mantener el tenant mix real de las plazas prioritarias de la ciudad.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3703320"/>
            <a:ext cx="33101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388620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6231D"/>
                </a:solidFill>
                <a:latin typeface="Arial"/>
              </a:rPr>
              <a:t>Producto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233672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7A7168"/>
                </a:solidFill>
                <a:latin typeface="Arial"/>
              </a:rPr>
              <a:t>Construir la plataforma real: cuentas, base de datos, mapa geolocalizado.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6992" y="3703320"/>
            <a:ext cx="3310128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388620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6231D"/>
                </a:solidFill>
                <a:latin typeface="Arial"/>
              </a:rPr>
              <a:t>Ventas a plazas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4233672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7A7168"/>
                </a:solidFill>
                <a:latin typeface="Arial"/>
              </a:rPr>
              <a:t>Equipo comercial para llevar el panel “Mi plaza” a administradores piloto.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7395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A7168"/>
                </a:solidFill>
                <a:latin typeface="Arial"/>
              </a:rPr>
              <a:t>plazamarket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A716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772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03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932">
                <a:solidFill>
                  <a:srgbClr val="FFFFFF"/>
                </a:solidFill>
                <a:latin typeface="Georgia"/>
              </a:rPr>
              <a:t>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5024" y="786384"/>
            <a:ext cx="4572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plazamarket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No vendemos el local.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E0385C"/>
                </a:solidFill>
                <a:latin typeface="Georgia"/>
              </a:rPr>
              <a:t>Vendemos la decisión correcta.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434840"/>
            <a:ext cx="10543032" cy="0"/>
          </a:xfrm>
          <a:prstGeom prst="line">
            <a:avLst/>
          </a:prstGeom>
          <a:ln w="12700">
            <a:solidFill>
              <a:srgbClr val="3A36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663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[Nombre del fundador]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1091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9C2B6"/>
                </a:solidFill>
                <a:latin typeface="Arial"/>
              </a:rPr>
              <a:t>josephmilhem4@gmail.com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21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9C2B6"/>
                </a:solidFill>
                <a:latin typeface="Arial"/>
              </a:rPr>
              <a:t>plaza-marketplace.vercel.app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