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6231D"/>
                </a:solidFill>
                <a:latin typeface="Georgia"/>
              </a:rPr>
              <a:t>Plaza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A7168"/>
                </a:solidFill>
                <a:latin typeface="Arial"/>
              </a:rPr>
              <a:t>Qué es y cómo funciona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4114800"/>
            <a:ext cx="10543032" cy="0"/>
          </a:xfrm>
          <a:prstGeom prst="line">
            <a:avLst/>
          </a:prstGeom>
          <a:ln w="12700">
            <a:solidFill>
              <a:srgbClr val="E4D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297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31D"/>
                </a:solidFill>
                <a:latin typeface="Arial"/>
              </a:rPr>
              <a:t>[Nombre del fundador]  ·  josephmilhem4@gmail.com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385C"/>
                </a:solidFill>
                <a:latin typeface="Arial"/>
              </a:rPr>
              <a:t>QUÉ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31D"/>
                </a:solidFill>
                <a:latin typeface="Georgia"/>
              </a:rPr>
              <a:t>Una plataforma para decidir
dónde abrir un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31D"/>
                </a:solidFill>
                <a:latin typeface="Arial"/>
              </a:rPr>
              <a:t>Conecta plazas comerciales de Panamá con personas y empresas que buscan un local. A diferencia de un portal inmobiliario tradicional, no solo muestra los locales disponibles — también muestra qué negocios ya operan en cada plaza, para ayudar a decidir en cuál conviene abrir.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513892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4590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7A7168"/>
                </a:solidFill>
                <a:latin typeface="Arial"/>
              </a:rPr>
              <a:t>Portal tradicional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4000500"/>
            <a:ext cx="68580" cy="68580"/>
          </a:xfrm>
          <a:prstGeom prst="ellipse">
            <a:avLst/>
          </a:prstGeom>
          <a:solidFill>
            <a:srgbClr val="7A7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9319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7168"/>
                </a:solidFill>
                <a:latin typeface="Arial"/>
              </a:rPr>
              <a:t>Muestra el local vacío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457700"/>
            <a:ext cx="68580" cy="68580"/>
          </a:xfrm>
          <a:prstGeom prst="ellipse">
            <a:avLst/>
          </a:prstGeom>
          <a:solidFill>
            <a:srgbClr val="7A7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3891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7168"/>
                </a:solidFill>
                <a:latin typeface="Arial"/>
              </a:rPr>
              <a:t>Sin información de lo que hay alrededor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914900"/>
            <a:ext cx="68580" cy="68580"/>
          </a:xfrm>
          <a:prstGeom prst="ellipse">
            <a:avLst/>
          </a:prstGeom>
          <a:solidFill>
            <a:srgbClr val="7A7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48463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7168"/>
                </a:solidFill>
                <a:latin typeface="Arial"/>
              </a:rPr>
              <a:t>Se busca por precio y tamaño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3246120"/>
            <a:ext cx="513892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3474720"/>
            <a:ext cx="4590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385C"/>
                </a:solidFill>
                <a:latin typeface="Arial"/>
              </a:rPr>
              <a:t>Plaza Marketplace</a:t>
            </a:r>
          </a:p>
        </p:txBody>
      </p:sp>
      <p:sp>
        <p:nvSpPr>
          <p:cNvPr id="16" name="Oval 15"/>
          <p:cNvSpPr/>
          <p:nvPr/>
        </p:nvSpPr>
        <p:spPr>
          <a:xfrm>
            <a:off x="6501384" y="4000500"/>
            <a:ext cx="68580" cy="68580"/>
          </a:xfrm>
          <a:prstGeom prst="ellipse">
            <a:avLst/>
          </a:prstGeom>
          <a:solidFill>
            <a:srgbClr val="7A7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39319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31D"/>
                </a:solidFill>
                <a:latin typeface="Arial"/>
              </a:rPr>
              <a:t>Muestra el local y los negocios que ya operan ahí</a:t>
            </a:r>
          </a:p>
        </p:txBody>
      </p:sp>
      <p:sp>
        <p:nvSpPr>
          <p:cNvPr id="18" name="Oval 17"/>
          <p:cNvSpPr/>
          <p:nvPr/>
        </p:nvSpPr>
        <p:spPr>
          <a:xfrm>
            <a:off x="6501384" y="4457700"/>
            <a:ext cx="68580" cy="68580"/>
          </a:xfrm>
          <a:prstGeom prst="ellipse">
            <a:avLst/>
          </a:prstGeom>
          <a:solidFill>
            <a:srgbClr val="7A7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43891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31D"/>
                </a:solidFill>
                <a:latin typeface="Arial"/>
              </a:rPr>
              <a:t>Indica si hay competencia o algo que atraiga clientes</a:t>
            </a:r>
          </a:p>
        </p:txBody>
      </p:sp>
      <p:sp>
        <p:nvSpPr>
          <p:cNvPr id="20" name="Oval 19"/>
          <p:cNvSpPr/>
          <p:nvPr/>
        </p:nvSpPr>
        <p:spPr>
          <a:xfrm>
            <a:off x="6501384" y="4914900"/>
            <a:ext cx="68580" cy="68580"/>
          </a:xfrm>
          <a:prstGeom prst="ellipse">
            <a:avLst/>
          </a:prstGeom>
          <a:solidFill>
            <a:srgbClr val="7A7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48463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31D"/>
                </a:solidFill>
                <a:latin typeface="Arial"/>
              </a:rPr>
              <a:t>Recomienda según el tipo de negocio que se quiere abrir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168"/>
                </a:solidFill>
                <a:latin typeface="Arial"/>
              </a:rPr>
              <a:t>Plaza Marketplace — documento explicativo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1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385C"/>
                </a:solidFill>
                <a:latin typeface="Arial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6231D"/>
                </a:solidFill>
                <a:latin typeface="Georgia"/>
              </a:rPr>
              <a:t>Cuatro secciones sobre la misma base de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2487168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222199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385C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253288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6231D"/>
                </a:solidFill>
                <a:latin typeface="Georgia"/>
              </a:rPr>
              <a:t>Mapa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971800"/>
            <a:ext cx="20116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7168"/>
                </a:solidFill>
                <a:latin typeface="Arial"/>
              </a:rPr>
              <a:t>Muestra las plazas de la ciudad organizadas por zona, con información del área: tipo de zona, poder adquisitivo, negocios ya instalados.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1965960"/>
            <a:ext cx="2487168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22199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385C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53288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6231D"/>
                </a:solidFill>
                <a:latin typeface="Georgia"/>
              </a:rPr>
              <a:t>Evaluación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971800"/>
            <a:ext cx="20116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7168"/>
                </a:solidFill>
                <a:latin typeface="Arial"/>
              </a:rPr>
              <a:t>Se responden 4 preguntas (qué negocio, presupuesto, tamaño, zona) y el sistema devuelve una lista de plazas ordenadas según qué tan bien encajan, con las razones de cada una.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65960"/>
            <a:ext cx="2487168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22199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385C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53288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6231D"/>
                </a:solidFill>
                <a:latin typeface="Georgia"/>
              </a:rPr>
              <a:t>Oportunidades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971800"/>
            <a:ext cx="20116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7168"/>
                </a:solidFill>
                <a:latin typeface="Arial"/>
              </a:rPr>
              <a:t>Se elige un tipo de negocio y se muestra, para todas las plazas, dónde hay negocios que generan tráfico y todavía no hay competencia directa.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1965960"/>
            <a:ext cx="2487168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222199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385C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253288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6231D"/>
                </a:solidFill>
                <a:latin typeface="Georgia"/>
              </a:rPr>
              <a:t>Panel de plaza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2971800"/>
            <a:ext cx="20116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7168"/>
                </a:solidFill>
                <a:latin typeface="Arial"/>
              </a:rPr>
              <a:t>Vista para el administrador de una plaza: ve las solicitudes que ha recibido y qué tipo de negocio le podría faltar a su mezcla actual.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168"/>
                </a:solidFill>
                <a:latin typeface="Arial"/>
              </a:rPr>
              <a:t>Plaza Marketplace — documento explicativo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1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385C"/>
                </a:solidFill>
                <a:latin typeface="Arial"/>
              </a:rPr>
              <a:t>UN 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6231D"/>
                </a:solidFill>
                <a:latin typeface="Georgia"/>
              </a:rPr>
              <a:t>Si alguien quiere abrir una farmacia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6231D"/>
                </a:solidFill>
                <a:latin typeface="Arial"/>
              </a:rPr>
              <a:t>El sistema revisa las plazas mapeadas y busca las que tienen un supermercado (que atrae clientes) y que todavía no tienen una farmacia. Las que ya tienen una se muestran marcadas como no recomendadas.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105430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697479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1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6231D"/>
                </a:solidFill>
                <a:latin typeface="Georgia"/>
              </a:rPr>
              <a:t>Plaza Aventura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308152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7168"/>
                </a:solidFill>
                <a:latin typeface="Arial"/>
              </a:rPr>
              <a:t>El Dorado · Ciudad de Panamá</a:t>
            </a:r>
          </a:p>
        </p:txBody>
      </p:sp>
      <p:sp>
        <p:nvSpPr>
          <p:cNvPr id="10" name="Oval 9"/>
          <p:cNvSpPr/>
          <p:nvPr/>
        </p:nvSpPr>
        <p:spPr>
          <a:xfrm>
            <a:off x="3063240" y="3419856"/>
            <a:ext cx="91440" cy="91440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3383280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6231D"/>
                </a:solidFill>
                <a:latin typeface="Arial"/>
              </a:rPr>
              <a:t>Tiene supermercado — genera tráfico de clientes</a:t>
            </a:r>
          </a:p>
        </p:txBody>
      </p:sp>
      <p:sp>
        <p:nvSpPr>
          <p:cNvPr id="12" name="Oval 11"/>
          <p:cNvSpPr/>
          <p:nvPr/>
        </p:nvSpPr>
        <p:spPr>
          <a:xfrm>
            <a:off x="3063240" y="3666744"/>
            <a:ext cx="91440" cy="91440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3630168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6231D"/>
                </a:solidFill>
                <a:latin typeface="Arial"/>
              </a:rPr>
              <a:t>Sin farmacia — categoría libre en la plaza</a:t>
            </a:r>
          </a:p>
        </p:txBody>
      </p:sp>
      <p:sp>
        <p:nvSpPr>
          <p:cNvPr id="14" name="Oval 13"/>
          <p:cNvSpPr/>
          <p:nvPr/>
        </p:nvSpPr>
        <p:spPr>
          <a:xfrm>
            <a:off x="3063240" y="3913632"/>
            <a:ext cx="91440" cy="91440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3877056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6231D"/>
                </a:solidFill>
                <a:latin typeface="Arial"/>
              </a:rPr>
              <a:t>Un local disponible dentro del rango de presupuesto indicado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2952" y="2697479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6231D"/>
                </a:solidFill>
                <a:latin typeface="Georgia"/>
              </a:rPr>
              <a:t>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2952" y="30449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7168"/>
                </a:solidFill>
                <a:latin typeface="Arial"/>
              </a:rPr>
              <a:t>puntaje sobre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7168"/>
                </a:solidFill>
                <a:latin typeface="Arial"/>
              </a:rPr>
              <a:t>Nota: los negocios, locales y precios que usa el prototipo hoy son datos de ejemplo, no reales.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168"/>
                </a:solidFill>
                <a:latin typeface="Arial"/>
              </a:rPr>
              <a:t>Plaza Marketplace — documento explicativo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1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385C"/>
                </a:solidFill>
                <a:latin typeface="Arial"/>
              </a:rPr>
              <a:t>CÓMO PODRÍA GENERAR INGRESOS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31D"/>
                </a:solidFill>
                <a:latin typeface="Georgia"/>
              </a:rPr>
              <a:t>Dos maneras de cobrar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13892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76272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6231D"/>
                </a:solidFill>
                <a:latin typeface="Georgia"/>
              </a:rPr>
              <a:t>A las plazas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33472"/>
            <a:ext cx="459028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7168"/>
                </a:solidFill>
                <a:latin typeface="Arial"/>
              </a:rPr>
              <a:t>Por publicar sus locales y recibir contactos de interesados — con una suscripción mensual, o una comisión cuando se cierra un contrato (como un corredor tradicional).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920240"/>
            <a:ext cx="513892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2176272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6231D"/>
                </a:solidFill>
                <a:latin typeface="Georgia"/>
              </a:rPr>
              <a:t>A quien busca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2633472"/>
            <a:ext cx="459028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7168"/>
                </a:solidFill>
                <a:latin typeface="Arial"/>
              </a:rPr>
              <a:t>La búsqueda básica sería gratuita. Un informe más detallado (comparación entre plazas, datos de la zona) o el acceso frecuente para franquicias en expansión tendría un costo aparte.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26231D"/>
                </a:solidFill>
                <a:latin typeface="Arial"/>
              </a:rPr>
              <a:t>Las dos formas pueden convivir: una versión gratuita para explorar, y cobro por el análisis más completo o por el volumen de contactos.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168"/>
                </a:solidFill>
                <a:latin typeface="Arial"/>
              </a:rPr>
              <a:t>Plaza Marketplace — documento explicativo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1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385C"/>
                </a:solidFill>
                <a:latin typeface="Arial"/>
              </a:rPr>
              <a:t>ESTADO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6231D"/>
                </a:solidFill>
                <a:latin typeface="Georgia"/>
              </a:rPr>
              <a:t>Qué existe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31D"/>
                </a:solidFill>
                <a:latin typeface="Georgia"/>
              </a:rPr>
              <a:t>Hecho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54580"/>
            <a:ext cx="68580" cy="68580"/>
          </a:xfrm>
          <a:prstGeom prst="ellipse">
            <a:avLst/>
          </a:prstGeom>
          <a:solidFill>
            <a:srgbClr val="7A7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286000"/>
            <a:ext cx="9400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31D"/>
                </a:solidFill>
                <a:latin typeface="Arial"/>
              </a:rPr>
              <a:t>Un prototipo navegable en plaza-marketplace.vercel.app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11780"/>
            <a:ext cx="68580" cy="68580"/>
          </a:xfrm>
          <a:prstGeom prst="ellipse">
            <a:avLst/>
          </a:prstGeom>
          <a:solidFill>
            <a:srgbClr val="7A7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43200"/>
            <a:ext cx="9400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31D"/>
                </a:solidFill>
                <a:latin typeface="Arial"/>
              </a:rPr>
              <a:t>25 plazas reales de Panamá cargadas, organizadas por zona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268980"/>
            <a:ext cx="68580" cy="68580"/>
          </a:xfrm>
          <a:prstGeom prst="ellipse">
            <a:avLst/>
          </a:prstGeom>
          <a:solidFill>
            <a:srgbClr val="7A7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200400"/>
            <a:ext cx="9400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31D"/>
                </a:solidFill>
                <a:latin typeface="Arial"/>
              </a:rPr>
              <a:t>El mapa, la evaluación guiada, el análisis por rubro y el panel de plaza funcionando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31D"/>
                </a:solidFill>
                <a:latin typeface="Georgia"/>
              </a:rPr>
              <a:t>Falta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503420"/>
            <a:ext cx="68580" cy="68580"/>
          </a:xfrm>
          <a:prstGeom prst="ellipse">
            <a:avLst/>
          </a:prstGeom>
          <a:solidFill>
            <a:srgbClr val="7A7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434840"/>
            <a:ext cx="9400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7168"/>
                </a:solidFill>
                <a:latin typeface="Arial"/>
              </a:rPr>
              <a:t>Datos reales de negocios, locales y precios (hoy son de ejemplo)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960620"/>
            <a:ext cx="68580" cy="68580"/>
          </a:xfrm>
          <a:prstGeom prst="ellipse">
            <a:avLst/>
          </a:prstGeom>
          <a:solidFill>
            <a:srgbClr val="7A7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892040"/>
            <a:ext cx="9400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7168"/>
                </a:solidFill>
                <a:latin typeface="Arial"/>
              </a:rPr>
              <a:t>Base de datos, cuentas de usuario y mapa geográfico real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417820"/>
            <a:ext cx="68580" cy="68580"/>
          </a:xfrm>
          <a:prstGeom prst="ellipse">
            <a:avLst/>
          </a:prstGeom>
          <a:solidFill>
            <a:srgbClr val="7A7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5349240"/>
            <a:ext cx="9400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7168"/>
                </a:solidFill>
                <a:latin typeface="Arial"/>
              </a:rPr>
              <a:t>Validar con administradores de plaza y con emprendedores reales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168"/>
                </a:solidFill>
                <a:latin typeface="Arial"/>
              </a:rPr>
              <a:t>Plaza Marketplace — documento explicativo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1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